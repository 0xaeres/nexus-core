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13967f8983c4a50" /><Relationship Type="http://schemas.openxmlformats.org/officeDocument/2006/relationships/extended-properties" Target="/docProps/app.xml" Id="R197bc76815dd40bb" /><Relationship Type="http://schemas.openxmlformats.org/officeDocument/2006/relationships/officeDocument" Target="/ppt/presentation.xml" Id="R23da4afa13b5452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28a58d9144149e2"/>
  </p:sldMasterIdLst>
  <p:notesMasterIdLst>
    <p:notesMasterId xmlns:r="http://schemas.openxmlformats.org/officeDocument/2006/relationships" r:id="Rd265e7c9d4644893"/>
  </p:notesMasterIdLst>
  <p:sldIdLst>
    <p:sldId xmlns:r="http://schemas.openxmlformats.org/officeDocument/2006/relationships" id="256" r:id="Rb06efecbbaaf4065"/>
    <p:sldId xmlns:r="http://schemas.openxmlformats.org/officeDocument/2006/relationships" id="257" r:id="R5e1b2e3720c04544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b0b3e57d5194d36" /><Relationship Type="http://schemas.openxmlformats.org/officeDocument/2006/relationships/slideMaster" Target="/ppt/slideMasters/slideMaster1.xml" Id="R528a58d9144149e2" /><Relationship Type="http://schemas.openxmlformats.org/officeDocument/2006/relationships/notesMaster" Target="/ppt/notesMasters/notesMaster1.xml" Id="Rd265e7c9d4644893" /><Relationship Type="http://schemas.openxmlformats.org/officeDocument/2006/relationships/presProps" Target="/ppt/presProps.xml" Id="Raec075dbe1694058" /><Relationship Type="http://schemas.openxmlformats.org/officeDocument/2006/relationships/tableStyles" Target="/ppt/tableStyles.xml" Id="Rbcbe441388b54f37" /><Relationship Type="http://schemas.openxmlformats.org/officeDocument/2006/relationships/slide" Target="/ppt/slides/slide1.xml" Id="Rb06efecbbaaf4065" /><Relationship Type="http://schemas.openxmlformats.org/officeDocument/2006/relationships/slide" Target="/ppt/slides/slide2.xml" Id="R5e1b2e3720c0454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888835a56d9422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2df7e50adf7477b" /><Relationship Type="http://schemas.openxmlformats.org/officeDocument/2006/relationships/notesMaster" Target="/ppt/notesMasters/notesMaster1.xml" Id="Raafe919f24a6437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648dc82bc07494d" /><Relationship Type="http://schemas.openxmlformats.org/officeDocument/2006/relationships/notesMaster" Target="/ppt/notesMasters/notesMaster1.xml" Id="R52f2a2e22464451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054b42da3cf48c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d814cbe481f4679" /><Relationship Type="http://schemas.openxmlformats.org/officeDocument/2006/relationships/slideLayout" Target="/ppt/slideLayouts/slideLayout1.xml" Id="Rc741c3f2683a44d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741c3f2683a44d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4eb82c7cf34e38" /><Relationship Type="http://schemas.openxmlformats.org/officeDocument/2006/relationships/notesSlide" Target="/ppt/notesSlides/notesSlide1.xml" Id="Rcb732ef381304ce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25da8c0b694b34" /><Relationship Type="http://schemas.openxmlformats.org/officeDocument/2006/relationships/notesSlide" Target="/ppt/notesSlides/notesSlide2.xml" Id="Re6ae2476363d4f5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2121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rand-mark">
            <a:extLst xmlns:a="http://schemas.openxmlformats.org/drawingml/2006/main">
              <a:ext uri="{FF2B5EF4-FFF2-40B4-BE49-F238E27FC236}">
                <a16:creationId xmlns:a16="http://schemas.microsoft.com/office/drawing/2014/main" id="{7620932E-6CDB-4B65-A9CC-795C2F93E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323850" cy="323850"/>
          </a:xfrm>
          <a:prstGeom xmlns:a="http://schemas.openxmlformats.org/drawingml/2006/main" prst="hexagon">
            <a:avLst/>
          </a:prstGeom>
          <a:solidFill xmlns:a="http://schemas.openxmlformats.org/drawingml/2006/main">
            <a:srgbClr val="AEB8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" name="brand-word">
            <a:extLst xmlns:a="http://schemas.openxmlformats.org/drawingml/2006/main">
              <a:ext uri="{FF2B5EF4-FFF2-40B4-BE49-F238E27FC236}">
                <a16:creationId xmlns:a16="http://schemas.microsoft.com/office/drawing/2014/main" id="{2E9B9A6D-B332-4B31-AF67-3106A8377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7150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NEXUS</a:t>
            </a:r>
          </a:p>
        </p:txBody>
      </p:sp>
      <p:sp>
        <p:nvSpPr>
          <p:cNvPr id="3" name="problem-pill-bg">
            <a:extLst xmlns:a="http://schemas.openxmlformats.org/drawingml/2006/main">
              <a:ext uri="{FF2B5EF4-FFF2-40B4-BE49-F238E27FC236}">
                <a16:creationId xmlns:a16="http://schemas.microsoft.com/office/drawing/2014/main" id="{B4B51B21-C5B4-4170-A95F-1A135DA29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20002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C8C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roblem-pill">
            <a:extLst xmlns:a="http://schemas.openxmlformats.org/drawingml/2006/main">
              <a:ext uri="{FF2B5EF4-FFF2-40B4-BE49-F238E27FC236}">
                <a16:creationId xmlns:a16="http://schemas.microsoft.com/office/drawing/2014/main" id="{3187BABD-AAF9-4825-A534-59EF7B9BE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323975"/>
            <a:ext cx="1695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PROBLEM STATEMENT</a:t>
            </a:r>
          </a:p>
        </p:txBody>
      </p:sp>
      <p:sp>
        <p:nvSpPr>
          <p:cNvPr id="5" name="problem-title">
            <a:extLst xmlns:a="http://schemas.openxmlformats.org/drawingml/2006/main">
              <a:ext uri="{FF2B5EF4-FFF2-40B4-BE49-F238E27FC236}">
                <a16:creationId xmlns:a16="http://schemas.microsoft.com/office/drawing/2014/main" id="{66CC67B3-A0C3-4EC0-A90F-31D8BD0A9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85950"/>
            <a:ext cx="73342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4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AI coding tools do not know the product</a:t>
            </a:r>
          </a:p>
        </p:txBody>
      </p:sp>
      <p:sp>
        <p:nvSpPr>
          <p:cNvPr id="6" name="problem-subtitle">
            <a:extLst xmlns:a="http://schemas.openxmlformats.org/drawingml/2006/main">
              <a:ext uri="{FF2B5EF4-FFF2-40B4-BE49-F238E27FC236}">
                <a16:creationId xmlns:a16="http://schemas.microsoft.com/office/drawing/2014/main" id="{7F2753C5-6411-4E54-8523-F224A3C0E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05200"/>
            <a:ext cx="6762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DDE2FF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DDE2FF"/>
                </a:solidFill>
                <a:latin typeface="Aptos"/>
                <a:ea typeface="Aptos"/>
                <a:cs typeface="Aptos"/>
              </a:rPr>
              <a:t>They can write code, but they do not automatically understand your product boundaries, decisions, standards, or missing context.</a:t>
            </a:r>
          </a:p>
        </p:txBody>
      </p:sp>
      <p:sp>
        <p:nvSpPr>
          <p:cNvPr id="7" name="problem-card">
            <a:extLst xmlns:a="http://schemas.openxmlformats.org/drawingml/2006/main">
              <a:ext uri="{FF2B5EF4-FFF2-40B4-BE49-F238E27FC236}">
                <a16:creationId xmlns:a16="http://schemas.microsoft.com/office/drawing/2014/main" id="{5768FAC5-290D-4D7B-B668-A45A8AAA0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123950"/>
            <a:ext cx="3333750" cy="4400550"/>
          </a:xfrm>
          <a:prstGeom xmlns:a="http://schemas.openxmlformats.org/drawingml/2006/main" prst="roundRect">
            <a:avLst>
              <a:gd name="adj" fmla="val 4571"/>
            </a:avLst>
          </a:prstGeom>
          <a:solidFill xmlns:a="http://schemas.openxmlformats.org/drawingml/2006/main">
            <a:srgbClr val="1E1F2B"/>
          </a:solidFill>
          <a:ln xmlns:a="http://schemas.openxmlformats.org/drawingml/2006/main" w="9525">
            <a:solidFill>
              <a:srgbClr val="35384A"/>
            </a:solidFill>
            <a:prstDash val="solid"/>
          </a:ln>
        </p:spPr>
      </p:sp>
      <p:sp>
        <p:nvSpPr>
          <p:cNvPr id="8" name="problem-card-title">
            <a:extLst xmlns:a="http://schemas.openxmlformats.org/drawingml/2006/main">
              <a:ext uri="{FF2B5EF4-FFF2-40B4-BE49-F238E27FC236}">
                <a16:creationId xmlns:a16="http://schemas.microsoft.com/office/drawing/2014/main" id="{061B8B83-C7B7-4119-BB99-C582A3146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504950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What breaks</a:t>
            </a:r>
          </a:p>
        </p:txBody>
      </p:sp>
      <p:sp>
        <p:nvSpPr>
          <p:cNvPr id="9" name="problem-dot-1">
            <a:extLst xmlns:a="http://schemas.openxmlformats.org/drawingml/2006/main">
              <a:ext uri="{FF2B5EF4-FFF2-40B4-BE49-F238E27FC236}">
                <a16:creationId xmlns:a16="http://schemas.microsoft.com/office/drawing/2014/main" id="{B29E1722-1938-4DAC-9D56-66913C411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0955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8C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problem-num-1">
            <a:extLst xmlns:a="http://schemas.openxmlformats.org/drawingml/2006/main">
              <a:ext uri="{FF2B5EF4-FFF2-40B4-BE49-F238E27FC236}">
                <a16:creationId xmlns:a16="http://schemas.microsoft.com/office/drawing/2014/main" id="{6C19CD3C-19C2-4AA4-A4AF-DBA1FFD37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143125"/>
            <a:ext cx="133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1" name="problem-text-1">
            <a:extLst xmlns:a="http://schemas.openxmlformats.org/drawingml/2006/main">
              <a:ext uri="{FF2B5EF4-FFF2-40B4-BE49-F238E27FC236}">
                <a16:creationId xmlns:a16="http://schemas.microsoft.com/office/drawing/2014/main" id="{68E33A72-06F2-4A2F-A670-30F1719BE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076450"/>
            <a:ext cx="190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Onboarding depends on tribal knowledge</a:t>
            </a:r>
          </a:p>
        </p:txBody>
      </p:sp>
      <p:sp>
        <p:nvSpPr>
          <p:cNvPr id="12" name="problem-dot-2">
            <a:extLst xmlns:a="http://schemas.openxmlformats.org/drawingml/2006/main">
              <a:ext uri="{FF2B5EF4-FFF2-40B4-BE49-F238E27FC236}">
                <a16:creationId xmlns:a16="http://schemas.microsoft.com/office/drawing/2014/main" id="{B179AC9E-B85E-4EBB-A146-4EB14727C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6479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8C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problem-num-2">
            <a:extLst xmlns:a="http://schemas.openxmlformats.org/drawingml/2006/main">
              <a:ext uri="{FF2B5EF4-FFF2-40B4-BE49-F238E27FC236}">
                <a16:creationId xmlns:a16="http://schemas.microsoft.com/office/drawing/2014/main" id="{E07379A8-8757-407C-8E7F-F3C168820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695575"/>
            <a:ext cx="133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4" name="problem-text-2">
            <a:extLst xmlns:a="http://schemas.openxmlformats.org/drawingml/2006/main">
              <a:ext uri="{FF2B5EF4-FFF2-40B4-BE49-F238E27FC236}">
                <a16:creationId xmlns:a16="http://schemas.microsoft.com/office/drawing/2014/main" id="{BFA0E076-F2A6-4146-9CEB-CB12C9660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628900"/>
            <a:ext cx="190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Gaps in docs and product rules stay hidden</a:t>
            </a:r>
          </a:p>
        </p:txBody>
      </p:sp>
      <p:sp>
        <p:nvSpPr>
          <p:cNvPr id="15" name="problem-dot-3">
            <a:extLst xmlns:a="http://schemas.openxmlformats.org/drawingml/2006/main">
              <a:ext uri="{FF2B5EF4-FFF2-40B4-BE49-F238E27FC236}">
                <a16:creationId xmlns:a16="http://schemas.microsoft.com/office/drawing/2014/main" id="{5EF79398-4822-4158-91BD-20F9CD40C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2004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8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problem-num-3">
            <a:extLst xmlns:a="http://schemas.openxmlformats.org/drawingml/2006/main">
              <a:ext uri="{FF2B5EF4-FFF2-40B4-BE49-F238E27FC236}">
                <a16:creationId xmlns:a16="http://schemas.microsoft.com/office/drawing/2014/main" id="{45B83C4B-C223-4DF7-A106-4003DCB47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248025"/>
            <a:ext cx="133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7" name="problem-text-3">
            <a:extLst xmlns:a="http://schemas.openxmlformats.org/drawingml/2006/main">
              <a:ext uri="{FF2B5EF4-FFF2-40B4-BE49-F238E27FC236}">
                <a16:creationId xmlns:a16="http://schemas.microsoft.com/office/drawing/2014/main" id="{031ED8AF-A124-4602-9836-2ED5EDC93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181350"/>
            <a:ext cx="190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AI guesses, causing hallucinations</a:t>
            </a:r>
          </a:p>
        </p:txBody>
      </p:sp>
      <p:sp>
        <p:nvSpPr>
          <p:cNvPr id="18" name="problem-dot-4">
            <a:extLst xmlns:a="http://schemas.openxmlformats.org/drawingml/2006/main">
              <a:ext uri="{FF2B5EF4-FFF2-40B4-BE49-F238E27FC236}">
                <a16:creationId xmlns:a16="http://schemas.microsoft.com/office/drawing/2014/main" id="{6E105077-B59F-4A1D-A46D-C700C669B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7528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8C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problem-num-4">
            <a:extLst xmlns:a="http://schemas.openxmlformats.org/drawingml/2006/main">
              <a:ext uri="{FF2B5EF4-FFF2-40B4-BE49-F238E27FC236}">
                <a16:creationId xmlns:a16="http://schemas.microsoft.com/office/drawing/2014/main" id="{272A37D8-A23D-4E68-8A42-10EA877BD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800475"/>
            <a:ext cx="133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0" name="problem-text-4">
            <a:extLst xmlns:a="http://schemas.openxmlformats.org/drawingml/2006/main">
              <a:ext uri="{FF2B5EF4-FFF2-40B4-BE49-F238E27FC236}">
                <a16:creationId xmlns:a16="http://schemas.microsoft.com/office/drawing/2014/main" id="{D1664DEE-7E3D-42D1-B30D-7731B8F1D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733800"/>
            <a:ext cx="190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Teams burn time and tokens repeating context</a:t>
            </a:r>
          </a:p>
        </p:txBody>
      </p:sp>
      <p:sp>
        <p:nvSpPr>
          <p:cNvPr id="21" name="problem-dot-5">
            <a:extLst xmlns:a="http://schemas.openxmlformats.org/drawingml/2006/main">
              <a:ext uri="{FF2B5EF4-FFF2-40B4-BE49-F238E27FC236}">
                <a16:creationId xmlns:a16="http://schemas.microsoft.com/office/drawing/2014/main" id="{6365F82F-037D-429E-AEF0-3F0BAC544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43053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8C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problem-num-5">
            <a:extLst xmlns:a="http://schemas.openxmlformats.org/drawingml/2006/main">
              <a:ext uri="{FF2B5EF4-FFF2-40B4-BE49-F238E27FC236}">
                <a16:creationId xmlns:a16="http://schemas.microsoft.com/office/drawing/2014/main" id="{72D6FEA8-0F08-4FE9-A207-C136DC9C3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352925"/>
            <a:ext cx="133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23" name="problem-text-5">
            <a:extLst xmlns:a="http://schemas.openxmlformats.org/drawingml/2006/main">
              <a:ext uri="{FF2B5EF4-FFF2-40B4-BE49-F238E27FC236}">
                <a16:creationId xmlns:a16="http://schemas.microsoft.com/office/drawing/2014/main" id="{1CCC0B7E-7820-464E-B8E9-62CC12C23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4286250"/>
            <a:ext cx="190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Code drifts from product conventions</a:t>
            </a:r>
          </a:p>
        </p:txBody>
      </p:sp>
      <p:sp>
        <p:nvSpPr>
          <p:cNvPr id="24" name="problem-note">
            <a:extLst xmlns:a="http://schemas.openxmlformats.org/drawingml/2006/main">
              <a:ext uri="{FF2B5EF4-FFF2-40B4-BE49-F238E27FC236}">
                <a16:creationId xmlns:a16="http://schemas.microsoft.com/office/drawing/2014/main" id="{AB8588F3-2BC3-4B98-9E18-2D76425AF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50482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BFC6E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BFC6E8"/>
                </a:solidFill>
                <a:latin typeface="Aptos"/>
                <a:ea typeface="Aptos"/>
                <a:cs typeface="Aptos"/>
              </a:rPr>
              <a:t>The issue is not AI capability. It is missing product context.</a:t>
            </a:r>
          </a:p>
        </p:txBody>
      </p:sp>
      <p:sp>
        <p:nvSpPr>
          <p:cNvPr id="25" name="cover-footer">
            <a:extLst xmlns:a="http://schemas.openxmlformats.org/drawingml/2006/main">
              <a:ext uri="{FF2B5EF4-FFF2-40B4-BE49-F238E27FC236}">
                <a16:creationId xmlns:a16="http://schemas.microsoft.com/office/drawing/2014/main" id="{91676E9B-EBFA-4C02-8D84-7F70B823E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BA3C7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9BA3C7"/>
                </a:solidFill>
                <a:latin typeface="Aptos"/>
                <a:ea typeface="Aptos"/>
                <a:cs typeface="Aptos"/>
              </a:rPr>
              <a:t>Nexus business demo  |  1/2</a:t>
            </a:r>
          </a:p>
        </p:txBody>
      </p:sp>
    </p:spTree>
    <p:extLst>
      <p:ext uri="{BB962C8B-B14F-4D97-AF65-F5344CB8AC3E}">
        <p14:creationId xmlns:p14="http://schemas.microsoft.com/office/powerpoint/2010/main" val="91220687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7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rand-mark">
            <a:extLst xmlns:a="http://schemas.openxmlformats.org/drawingml/2006/main">
              <a:ext uri="{FF2B5EF4-FFF2-40B4-BE49-F238E27FC236}">
                <a16:creationId xmlns:a16="http://schemas.microsoft.com/office/drawing/2014/main" id="{7C41CE66-E880-4882-9C84-096F3EF7D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323850" cy="323850"/>
          </a:xfrm>
          <a:prstGeom xmlns:a="http://schemas.openxmlformats.org/drawingml/2006/main" prst="hexagon">
            <a:avLst/>
          </a:prstGeom>
          <a:solidFill xmlns:a="http://schemas.openxmlformats.org/drawingml/2006/main">
            <a:srgbClr val="7C8CFF"/>
          </a:solidFill>
          <a:ln xmlns:a="http://schemas.openxmlformats.org/drawingml/2006/main" w="9525">
            <a:solidFill>
              <a:srgbClr val="12121A"/>
            </a:solidFill>
            <a:prstDash val="solid"/>
          </a:ln>
        </p:spPr>
      </p:sp>
      <p:sp>
        <p:nvSpPr>
          <p:cNvPr id="2" name="brand-word">
            <a:extLst xmlns:a="http://schemas.openxmlformats.org/drawingml/2006/main">
              <a:ext uri="{FF2B5EF4-FFF2-40B4-BE49-F238E27FC236}">
                <a16:creationId xmlns:a16="http://schemas.microsoft.com/office/drawing/2014/main" id="{97B0D893-7191-46F5-BDE8-3864D73E2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7150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2121A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12121A"/>
                </a:solidFill>
                <a:latin typeface="Aptos Display"/>
                <a:ea typeface="Aptos Display"/>
                <a:cs typeface="Aptos Display"/>
              </a:rPr>
              <a:t>NEXUS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8824B71-8129-4CB4-8DA8-B75957519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704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2121A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12121A"/>
                </a:solidFill>
                <a:latin typeface="Aptos Display"/>
                <a:ea typeface="Aptos Display"/>
                <a:cs typeface="Aptos Display"/>
              </a:rPr>
              <a:t>Nexus makes AI product-grounded</a:t>
            </a:r>
          </a:p>
        </p:txBody>
      </p:sp>
      <p:sp>
        <p:nvSpPr>
          <p:cNvPr id="4" name="subtitle">
            <a:extLst xmlns:a="http://schemas.openxmlformats.org/drawingml/2006/main">
              <a:ext uri="{FF2B5EF4-FFF2-40B4-BE49-F238E27FC236}">
                <a16:creationId xmlns:a16="http://schemas.microsoft.com/office/drawing/2014/main" id="{C75B7A96-AF2A-4B95-ADB8-64A161633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00200"/>
            <a:ext cx="847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E6472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5E6472"/>
                </a:solidFill>
                <a:latin typeface="Aptos"/>
                <a:ea typeface="Aptos"/>
                <a:cs typeface="Aptos"/>
              </a:rPr>
              <a:t>The business proposition: give every team and every AI tool the same reusable product context.</a:t>
            </a:r>
          </a:p>
        </p:txBody>
      </p:sp>
      <p:sp>
        <p:nvSpPr>
          <p:cNvPr id="5" name="prop-card-1">
            <a:extLst xmlns:a="http://schemas.openxmlformats.org/drawingml/2006/main">
              <a:ext uri="{FF2B5EF4-FFF2-40B4-BE49-F238E27FC236}">
                <a16:creationId xmlns:a16="http://schemas.microsoft.com/office/drawing/2014/main" id="{59C73558-83C4-4EE9-B871-68C63CABA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81250"/>
            <a:ext cx="4762500" cy="1009650"/>
          </a:xfrm>
          <a:prstGeom xmlns:a="http://schemas.openxmlformats.org/drawingml/2006/main" prst="roundRect">
            <a:avLst>
              <a:gd name="adj" fmla="val 113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F2"/>
            </a:solidFill>
            <a:prstDash val="solid"/>
          </a:ln>
        </p:spPr>
      </p:sp>
      <p:sp>
        <p:nvSpPr>
          <p:cNvPr id="6" name="prop-icon-1">
            <a:extLst xmlns:a="http://schemas.openxmlformats.org/drawingml/2006/main">
              <a:ext uri="{FF2B5EF4-FFF2-40B4-BE49-F238E27FC236}">
                <a16:creationId xmlns:a16="http://schemas.microsoft.com/office/drawing/2014/main" id="{9A8F3730-DF23-415C-A404-285EDBA25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6098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8C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prop-num-1">
            <a:extLst xmlns:a="http://schemas.openxmlformats.org/drawingml/2006/main">
              <a:ext uri="{FF2B5EF4-FFF2-40B4-BE49-F238E27FC236}">
                <a16:creationId xmlns:a16="http://schemas.microsoft.com/office/drawing/2014/main" id="{7FA64CE9-E5C8-4673-8785-5FD00786B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686050"/>
            <a:ext cx="1143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8" name="prop-heading-1">
            <a:extLst xmlns:a="http://schemas.openxmlformats.org/drawingml/2006/main">
              <a:ext uri="{FF2B5EF4-FFF2-40B4-BE49-F238E27FC236}">
                <a16:creationId xmlns:a16="http://schemas.microsoft.com/office/drawing/2014/main" id="{C4390547-FB58-4D73-B73E-0F05A96C7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571750"/>
            <a:ext cx="3714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2121A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2121A"/>
                </a:solidFill>
                <a:latin typeface="Aptos"/>
                <a:ea typeface="Aptos"/>
                <a:cs typeface="Aptos"/>
              </a:rPr>
              <a:t>Easier onboarding</a:t>
            </a:r>
          </a:p>
        </p:txBody>
      </p:sp>
      <p:sp>
        <p:nvSpPr>
          <p:cNvPr id="9" name="prop-body-1">
            <a:extLst xmlns:a="http://schemas.openxmlformats.org/drawingml/2006/main">
              <a:ext uri="{FF2B5EF4-FFF2-40B4-BE49-F238E27FC236}">
                <a16:creationId xmlns:a16="http://schemas.microsoft.com/office/drawing/2014/main" id="{0E6DA0FB-7E0A-491C-9AD4-81161BF27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895600"/>
            <a:ext cx="3695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E64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E6472"/>
                </a:solidFill>
                <a:latin typeface="Aptos"/>
                <a:ea typeface="Aptos"/>
                <a:cs typeface="Aptos"/>
              </a:rPr>
              <a:t>New engineers start with product rules, vocabulary, and decisions already packaged.</a:t>
            </a:r>
          </a:p>
        </p:txBody>
      </p:sp>
      <p:sp>
        <p:nvSpPr>
          <p:cNvPr id="10" name="prop-card-2">
            <a:extLst xmlns:a="http://schemas.openxmlformats.org/drawingml/2006/main">
              <a:ext uri="{FF2B5EF4-FFF2-40B4-BE49-F238E27FC236}">
                <a16:creationId xmlns:a16="http://schemas.microsoft.com/office/drawing/2014/main" id="{5D72E629-6BE1-4205-B872-24339F44F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381250"/>
            <a:ext cx="4762500" cy="1009650"/>
          </a:xfrm>
          <a:prstGeom xmlns:a="http://schemas.openxmlformats.org/drawingml/2006/main" prst="roundRect">
            <a:avLst>
              <a:gd name="adj" fmla="val 113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F2"/>
            </a:solidFill>
            <a:prstDash val="solid"/>
          </a:ln>
        </p:spPr>
      </p:sp>
      <p:sp>
        <p:nvSpPr>
          <p:cNvPr id="11" name="prop-icon-2">
            <a:extLst xmlns:a="http://schemas.openxmlformats.org/drawingml/2006/main">
              <a:ext uri="{FF2B5EF4-FFF2-40B4-BE49-F238E27FC236}">
                <a16:creationId xmlns:a16="http://schemas.microsoft.com/office/drawing/2014/main" id="{080FE437-33C9-4562-91FC-E9916C874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6098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8C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prop-num-2">
            <a:extLst xmlns:a="http://schemas.openxmlformats.org/drawingml/2006/main">
              <a:ext uri="{FF2B5EF4-FFF2-40B4-BE49-F238E27FC236}">
                <a16:creationId xmlns:a16="http://schemas.microsoft.com/office/drawing/2014/main" id="{3678CCD9-AE5D-46B4-B7B5-105EADE54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686050"/>
            <a:ext cx="1143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3" name="prop-heading-2">
            <a:extLst xmlns:a="http://schemas.openxmlformats.org/drawingml/2006/main">
              <a:ext uri="{FF2B5EF4-FFF2-40B4-BE49-F238E27FC236}">
                <a16:creationId xmlns:a16="http://schemas.microsoft.com/office/drawing/2014/main" id="{F17A5C70-6E72-458B-AA9A-16F2758CC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571750"/>
            <a:ext cx="3714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2121A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2121A"/>
                </a:solidFill>
                <a:latin typeface="Aptos"/>
                <a:ea typeface="Aptos"/>
                <a:cs typeface="Aptos"/>
              </a:rPr>
              <a:t>Gap identification</a:t>
            </a:r>
          </a:p>
        </p:txBody>
      </p:sp>
      <p:sp>
        <p:nvSpPr>
          <p:cNvPr id="14" name="prop-body-2">
            <a:extLst xmlns:a="http://schemas.openxmlformats.org/drawingml/2006/main">
              <a:ext uri="{FF2B5EF4-FFF2-40B4-BE49-F238E27FC236}">
                <a16:creationId xmlns:a16="http://schemas.microsoft.com/office/drawing/2014/main" id="{AD787850-22D8-49B6-B129-0231E2EEC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895600"/>
            <a:ext cx="3695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E64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E6472"/>
                </a:solidFill>
                <a:latin typeface="Aptos"/>
                <a:ea typeface="Aptos"/>
                <a:cs typeface="Aptos"/>
              </a:rPr>
              <a:t>Missing docs, unclear ownership, and fuzzy conventions become visible instead of tribal.</a:t>
            </a:r>
          </a:p>
        </p:txBody>
      </p:sp>
      <p:sp>
        <p:nvSpPr>
          <p:cNvPr id="15" name="prop-card-3">
            <a:extLst xmlns:a="http://schemas.openxmlformats.org/drawingml/2006/main">
              <a:ext uri="{FF2B5EF4-FFF2-40B4-BE49-F238E27FC236}">
                <a16:creationId xmlns:a16="http://schemas.microsoft.com/office/drawing/2014/main" id="{5E29246A-FDA6-471D-8F91-9A2F00479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95700"/>
            <a:ext cx="4762500" cy="1009650"/>
          </a:xfrm>
          <a:prstGeom xmlns:a="http://schemas.openxmlformats.org/drawingml/2006/main" prst="roundRect">
            <a:avLst>
              <a:gd name="adj" fmla="val 11321"/>
            </a:avLst>
          </a:prstGeom>
          <a:solidFill xmlns:a="http://schemas.openxmlformats.org/drawingml/2006/main">
            <a:srgbClr val="E9FAF4"/>
          </a:solidFill>
          <a:ln xmlns:a="http://schemas.openxmlformats.org/drawingml/2006/main" w="9525">
            <a:solidFill>
              <a:srgbClr val="B8EBD9"/>
            </a:solidFill>
            <a:prstDash val="solid"/>
          </a:ln>
        </p:spPr>
      </p:sp>
      <p:sp>
        <p:nvSpPr>
          <p:cNvPr id="16" name="prop-icon-3">
            <a:extLst xmlns:a="http://schemas.openxmlformats.org/drawingml/2006/main">
              <a:ext uri="{FF2B5EF4-FFF2-40B4-BE49-F238E27FC236}">
                <a16:creationId xmlns:a16="http://schemas.microsoft.com/office/drawing/2014/main" id="{34208985-F1B7-4836-919B-12D54F017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9243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B89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prop-num-3">
            <a:extLst xmlns:a="http://schemas.openxmlformats.org/drawingml/2006/main">
              <a:ext uri="{FF2B5EF4-FFF2-40B4-BE49-F238E27FC236}">
                <a16:creationId xmlns:a16="http://schemas.microsoft.com/office/drawing/2014/main" id="{3BDBF7BB-CCA4-4870-9739-93D890044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00500"/>
            <a:ext cx="1143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8" name="prop-heading-3">
            <a:extLst xmlns:a="http://schemas.openxmlformats.org/drawingml/2006/main">
              <a:ext uri="{FF2B5EF4-FFF2-40B4-BE49-F238E27FC236}">
                <a16:creationId xmlns:a16="http://schemas.microsoft.com/office/drawing/2014/main" id="{02B7A329-BBD6-48C1-914C-5243F36C2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886200"/>
            <a:ext cx="3714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2121A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2121A"/>
                </a:solidFill>
                <a:latin typeface="Aptos"/>
                <a:ea typeface="Aptos"/>
                <a:cs typeface="Aptos"/>
              </a:rPr>
              <a:t>Fewer hallucinations</a:t>
            </a:r>
          </a:p>
        </p:txBody>
      </p:sp>
      <p:sp>
        <p:nvSpPr>
          <p:cNvPr id="19" name="prop-body-3">
            <a:extLst xmlns:a="http://schemas.openxmlformats.org/drawingml/2006/main">
              <a:ext uri="{FF2B5EF4-FFF2-40B4-BE49-F238E27FC236}">
                <a16:creationId xmlns:a16="http://schemas.microsoft.com/office/drawing/2014/main" id="{C74F4AC8-1428-408D-A079-D144BD868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210050"/>
            <a:ext cx="3695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E64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E6472"/>
                </a:solidFill>
                <a:latin typeface="Aptos"/>
                <a:ea typeface="Aptos"/>
                <a:cs typeface="Aptos"/>
              </a:rPr>
              <a:t>AI answers are grounded in the product, not generic training data.</a:t>
            </a:r>
          </a:p>
        </p:txBody>
      </p:sp>
      <p:sp>
        <p:nvSpPr>
          <p:cNvPr id="20" name="prop-card-4">
            <a:extLst xmlns:a="http://schemas.openxmlformats.org/drawingml/2006/main">
              <a:ext uri="{FF2B5EF4-FFF2-40B4-BE49-F238E27FC236}">
                <a16:creationId xmlns:a16="http://schemas.microsoft.com/office/drawing/2014/main" id="{325EF2B2-E200-457A-A680-AAE40B3BB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695700"/>
            <a:ext cx="4762500" cy="1009650"/>
          </a:xfrm>
          <a:prstGeom xmlns:a="http://schemas.openxmlformats.org/drawingml/2006/main" prst="roundRect">
            <a:avLst>
              <a:gd name="adj" fmla="val 113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F2"/>
            </a:solidFill>
            <a:prstDash val="solid"/>
          </a:ln>
        </p:spPr>
      </p:sp>
      <p:sp>
        <p:nvSpPr>
          <p:cNvPr id="21" name="prop-icon-4">
            <a:extLst xmlns:a="http://schemas.openxmlformats.org/drawingml/2006/main">
              <a:ext uri="{FF2B5EF4-FFF2-40B4-BE49-F238E27FC236}">
                <a16:creationId xmlns:a16="http://schemas.microsoft.com/office/drawing/2014/main" id="{4E8D89ED-6332-42AC-862D-3A9C14219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9243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8C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prop-num-4">
            <a:extLst xmlns:a="http://schemas.openxmlformats.org/drawingml/2006/main">
              <a:ext uri="{FF2B5EF4-FFF2-40B4-BE49-F238E27FC236}">
                <a16:creationId xmlns:a16="http://schemas.microsoft.com/office/drawing/2014/main" id="{E80C86D5-0CA2-4CA9-9BB7-72C3364FD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000500"/>
            <a:ext cx="1143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3" name="prop-heading-4">
            <a:extLst xmlns:a="http://schemas.openxmlformats.org/drawingml/2006/main">
              <a:ext uri="{FF2B5EF4-FFF2-40B4-BE49-F238E27FC236}">
                <a16:creationId xmlns:a16="http://schemas.microsoft.com/office/drawing/2014/main" id="{7C333B88-0465-44DA-BC03-A53CE57CE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886200"/>
            <a:ext cx="3714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2121A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2121A"/>
                </a:solidFill>
                <a:latin typeface="Aptos"/>
                <a:ea typeface="Aptos"/>
                <a:cs typeface="Aptos"/>
              </a:rPr>
              <a:t>Save tokens and time</a:t>
            </a:r>
          </a:p>
        </p:txBody>
      </p:sp>
      <p:sp>
        <p:nvSpPr>
          <p:cNvPr id="24" name="prop-body-4">
            <a:extLst xmlns:a="http://schemas.openxmlformats.org/drawingml/2006/main">
              <a:ext uri="{FF2B5EF4-FFF2-40B4-BE49-F238E27FC236}">
                <a16:creationId xmlns:a16="http://schemas.microsoft.com/office/drawing/2014/main" id="{5958FC22-A24D-4038-81E2-8C88A93A1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210050"/>
            <a:ext cx="3695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E64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E6472"/>
                </a:solidFill>
                <a:latin typeface="Aptos"/>
                <a:ea typeface="Aptos"/>
                <a:cs typeface="Aptos"/>
              </a:rPr>
              <a:t>Teams stop re-explaining the same context in every prompt and review cycle.</a:t>
            </a:r>
          </a:p>
        </p:txBody>
      </p:sp>
      <p:sp>
        <p:nvSpPr>
          <p:cNvPr id="25" name="prop-card-5">
            <a:extLst xmlns:a="http://schemas.openxmlformats.org/drawingml/2006/main">
              <a:ext uri="{FF2B5EF4-FFF2-40B4-BE49-F238E27FC236}">
                <a16:creationId xmlns:a16="http://schemas.microsoft.com/office/drawing/2014/main" id="{3DDE24BC-F960-4A20-8D19-04C35E219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010150"/>
            <a:ext cx="6858000" cy="1009650"/>
          </a:xfrm>
          <a:prstGeom xmlns:a="http://schemas.openxmlformats.org/drawingml/2006/main" prst="roundRect">
            <a:avLst>
              <a:gd name="adj" fmla="val 113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F2"/>
            </a:solidFill>
            <a:prstDash val="solid"/>
          </a:ln>
        </p:spPr>
      </p:sp>
      <p:sp>
        <p:nvSpPr>
          <p:cNvPr id="26" name="prop-icon-5">
            <a:extLst xmlns:a="http://schemas.openxmlformats.org/drawingml/2006/main">
              <a:ext uri="{FF2B5EF4-FFF2-40B4-BE49-F238E27FC236}">
                <a16:creationId xmlns:a16="http://schemas.microsoft.com/office/drawing/2014/main" id="{09D50F60-721D-4531-92D1-A818FEDD7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52387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8C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prop-num-5">
            <a:extLst xmlns:a="http://schemas.openxmlformats.org/drawingml/2006/main">
              <a:ext uri="{FF2B5EF4-FFF2-40B4-BE49-F238E27FC236}">
                <a16:creationId xmlns:a16="http://schemas.microsoft.com/office/drawing/2014/main" id="{2C276E0F-1D13-40D5-9F39-4963830CA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314950"/>
            <a:ext cx="1143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28" name="prop-heading-5">
            <a:extLst xmlns:a="http://schemas.openxmlformats.org/drawingml/2006/main">
              <a:ext uri="{FF2B5EF4-FFF2-40B4-BE49-F238E27FC236}">
                <a16:creationId xmlns:a16="http://schemas.microsoft.com/office/drawing/2014/main" id="{234D4DF7-95F5-4AC2-A22F-B2F6CF59D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5200650"/>
            <a:ext cx="581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2121A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2121A"/>
                </a:solidFill>
                <a:latin typeface="Aptos"/>
                <a:ea typeface="Aptos"/>
                <a:cs typeface="Aptos"/>
              </a:rPr>
              <a:t>Consistent code</a:t>
            </a:r>
          </a:p>
        </p:txBody>
      </p:sp>
      <p:sp>
        <p:nvSpPr>
          <p:cNvPr id="29" name="prop-body-5">
            <a:extLst xmlns:a="http://schemas.openxmlformats.org/drawingml/2006/main">
              <a:ext uri="{FF2B5EF4-FFF2-40B4-BE49-F238E27FC236}">
                <a16:creationId xmlns:a16="http://schemas.microsoft.com/office/drawing/2014/main" id="{EF4CDCCE-1287-4A01-A305-634FA0F8F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5524500"/>
            <a:ext cx="5791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E64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E6472"/>
                </a:solidFill>
                <a:latin typeface="Aptos"/>
                <a:ea typeface="Aptos"/>
                <a:cs typeface="Aptos"/>
              </a:rPr>
              <a:t>AI suggestions follow the product’s actual patterns, boundaries, and standards.</a:t>
            </a:r>
          </a:p>
        </p:txBody>
      </p:sp>
      <p:sp>
        <p:nvSpPr>
          <p:cNvPr id="30" name="prop-band">
            <a:extLst xmlns:a="http://schemas.openxmlformats.org/drawingml/2006/main">
              <a:ext uri="{FF2B5EF4-FFF2-40B4-BE49-F238E27FC236}">
                <a16:creationId xmlns:a16="http://schemas.microsoft.com/office/drawing/2014/main" id="{02C7B1AC-FFE0-42A5-A887-FC4890368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6210300"/>
            <a:ext cx="723900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212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prop-band-text">
            <a:extLst xmlns:a="http://schemas.openxmlformats.org/drawingml/2006/main">
              <a:ext uri="{FF2B5EF4-FFF2-40B4-BE49-F238E27FC236}">
                <a16:creationId xmlns:a16="http://schemas.microsoft.com/office/drawing/2014/main" id="{77DB906E-57F5-4E2D-BECF-42F1815BB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6315075"/>
            <a:ext cx="619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Bottom line: faster delivery with less AI guesswork.</a:t>
            </a:r>
          </a:p>
        </p:txBody>
      </p:sp>
      <p:sp>
        <p:nvSpPr>
          <p:cNvPr id="32" name="footer-2">
            <a:extLst xmlns:a="http://schemas.openxmlformats.org/drawingml/2006/main">
              <a:ext uri="{FF2B5EF4-FFF2-40B4-BE49-F238E27FC236}">
                <a16:creationId xmlns:a16="http://schemas.microsoft.com/office/drawing/2014/main" id="{607BCA76-2A6E-4BB4-99E9-D963E0C79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C92A3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C92A3"/>
                </a:solidFill>
                <a:latin typeface="Aptos"/>
                <a:ea typeface="Aptos"/>
                <a:cs typeface="Aptos"/>
              </a:rPr>
              <a:t>Nexus business demo  |  2/2</a:t>
            </a:r>
          </a:p>
        </p:txBody>
      </p:sp>
    </p:spTree>
    <p:extLst>
      <p:ext uri="{BB962C8B-B14F-4D97-AF65-F5344CB8AC3E}">
        <p14:creationId xmlns:p14="http://schemas.microsoft.com/office/powerpoint/2010/main" val="95121396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2026-06-17T18:15:59.3240000Z</dcterms:created>
  <dcterms:modified xsi:type="dcterms:W3CDTF">2026-06-17T18:15:59.3240000Z</dcterms:modified>
</coreProperties>
</file>